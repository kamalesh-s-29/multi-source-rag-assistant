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embeddedFontLst>
    <p:embeddedFont>
      <p:font typeface="Arial Narrow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h8V+B81hUZM81wAoxSrRvFTap5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ArialNarrow-bold.fntdata"/><Relationship Id="rId21" Type="http://schemas.openxmlformats.org/officeDocument/2006/relationships/font" Target="fonts/ArialNarrow-regular.fntdata"/><Relationship Id="rId24" Type="http://schemas.openxmlformats.org/officeDocument/2006/relationships/font" Target="fonts/ArialNarrow-boldItalic.fntdata"/><Relationship Id="rId23" Type="http://schemas.openxmlformats.org/officeDocument/2006/relationships/font" Target="fonts/ArialNarrow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8" name="Google Shape;28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0" name="Google Shape;30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6" name="Google Shape;56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7" name="Google Shape;57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"/>
          <p:cNvSpPr txBox="1"/>
          <p:nvPr>
            <p:ph idx="1" type="body"/>
          </p:nvPr>
        </p:nvSpPr>
        <p:spPr>
          <a:xfrm>
            <a:off x="356700" y="2078175"/>
            <a:ext cx="11762400" cy="44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 COMPUTER SCIENCE AND ENGINEERING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CSB1354 – BUILDING RAG BASED SOLUTIONS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END SEMESTER PRACTICAL EXAMINATION - APRIL/MAY - 2026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Batch No. : 01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Date          : 08-05-2026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Session     : FN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8148" l="16357" r="14907" t="0"/>
          <a:stretch/>
        </p:blipFill>
        <p:spPr>
          <a:xfrm>
            <a:off x="11215585" y="65332"/>
            <a:ext cx="903515" cy="51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32" y="0"/>
            <a:ext cx="5348811" cy="1873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idx="1" type="body"/>
          </p:nvPr>
        </p:nvSpPr>
        <p:spPr>
          <a:xfrm>
            <a:off x="5" y="1382450"/>
            <a:ext cx="12115800" cy="15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100">
                <a:latin typeface="Times New Roman"/>
                <a:ea typeface="Times New Roman"/>
                <a:cs typeface="Times New Roman"/>
                <a:sym typeface="Times New Roman"/>
              </a:rPr>
              <a:t>MULTI - SOURCE RAG ASSISTANT</a:t>
            </a:r>
            <a:endParaRPr b="1" sz="4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b="1" sz="4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b="1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3" name="Google Shape;93;p2"/>
          <p:cNvSpPr txBox="1"/>
          <p:nvPr>
            <p:ph idx="1" type="body"/>
          </p:nvPr>
        </p:nvSpPr>
        <p:spPr>
          <a:xfrm>
            <a:off x="631776" y="3631450"/>
            <a:ext cx="5196900" cy="27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Guide Name: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Mrs.S.Gayathri,M.E.,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Assistant Professor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Department of CSE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2"/>
          <p:cNvSpPr txBox="1"/>
          <p:nvPr>
            <p:ph idx="1" type="body"/>
          </p:nvPr>
        </p:nvSpPr>
        <p:spPr>
          <a:xfrm>
            <a:off x="6012180" y="3631450"/>
            <a:ext cx="6454140" cy="27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Team Members: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45833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ABDUL RAZEEK A(2303811710421002)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45833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JAYASURYA L(2303811710421066)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45833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KAMALESH S(2303811710421073)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45833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MATHAN M(2303811710421092)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45833"/>
              <a:buNone/>
            </a:pPr>
            <a:r>
              <a:t/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45833"/>
              <a:buNone/>
            </a:pPr>
            <a:r>
              <a:t/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type="title"/>
          </p:nvPr>
        </p:nvSpPr>
        <p:spPr>
          <a:xfrm>
            <a:off x="838200" y="140549"/>
            <a:ext cx="10515600" cy="9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OF THE PROJECT</a:t>
            </a:r>
            <a:endParaRPr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b="1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1" name="Google Shape;101;p3"/>
          <p:cNvSpPr txBox="1"/>
          <p:nvPr>
            <p:ph idx="1" type="body"/>
          </p:nvPr>
        </p:nvSpPr>
        <p:spPr>
          <a:xfrm>
            <a:off x="838200" y="811561"/>
            <a:ext cx="10672800" cy="61324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39700" lvl="0" marL="5461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45720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D0D0D"/>
              </a:buClr>
              <a:buSzPts val="2700"/>
              <a:buFont typeface="Noto Sans Symbols"/>
              <a:buChar char="⮚"/>
            </a:pPr>
            <a:r>
              <a:rPr lang="en-US" sz="2400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To develop a semantic query engine RAG-powered desktop application capable of processing PDFs, web URLs, and raw text.</a:t>
            </a:r>
            <a:endParaRPr/>
          </a:p>
          <a:p>
            <a:pPr indent="-228600" lvl="0" marL="45720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D0D0D"/>
              </a:buClr>
              <a:buSzPts val="2700"/>
              <a:buFont typeface="Noto Sans Symbols"/>
              <a:buNone/>
            </a:pPr>
            <a:r>
              <a:t/>
            </a:r>
            <a:endParaRPr sz="2400">
              <a:solidFill>
                <a:srgbClr val="0D0D0D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45720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D0D0D"/>
              </a:buClr>
              <a:buSzPts val="2700"/>
              <a:buFont typeface="Noto Sans Symbols"/>
              <a:buChar char="⮚"/>
            </a:pPr>
            <a:r>
              <a:rPr lang="en-US" sz="2400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To build a context-aware question answering system that retrieves and grounds responses using semantic search and vector embeddings.</a:t>
            </a:r>
            <a:endParaRPr/>
          </a:p>
          <a:p>
            <a:pPr indent="-228600" lvl="0" marL="45720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D0D0D"/>
              </a:buClr>
              <a:buSzPts val="2700"/>
              <a:buFont typeface="Noto Sans Symbols"/>
              <a:buNone/>
            </a:pPr>
            <a:r>
              <a:t/>
            </a:r>
            <a:endParaRPr sz="2400">
              <a:solidFill>
                <a:srgbClr val="0D0D0D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45720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D0D0D"/>
              </a:buClr>
              <a:buSzPts val="2700"/>
              <a:buFont typeface="Noto Sans Symbols"/>
              <a:buChar char="⮚"/>
            </a:pPr>
            <a:r>
              <a:rPr lang="en-US" sz="2400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To deliver an interactive and accessible chat application with integrated Text-to-Speech (TTS) functionality.</a:t>
            </a:r>
            <a:endParaRPr/>
          </a:p>
          <a:p>
            <a:pPr indent="-228600" lvl="0" marL="342900" marR="0" rtl="0" algn="just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>
            <p:ph type="title"/>
          </p:nvPr>
        </p:nvSpPr>
        <p:spPr>
          <a:xfrm>
            <a:off x="0" y="206477"/>
            <a:ext cx="121920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b="1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8" name="Google Shape;108;p4"/>
          <p:cNvSpPr txBox="1"/>
          <p:nvPr>
            <p:ph idx="1" type="body"/>
          </p:nvPr>
        </p:nvSpPr>
        <p:spPr>
          <a:xfrm>
            <a:off x="781950" y="1531402"/>
            <a:ext cx="10842600" cy="4908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400050" lvl="0" marL="45720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D0D0D"/>
              </a:buClr>
              <a:buSzPts val="2700"/>
              <a:buFont typeface="Noto Sans Symbols"/>
              <a:buChar char="⮚"/>
            </a:pPr>
            <a:r>
              <a:rPr lang="en-US" sz="2400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Developed a Retrieval-Augmented Generation (RAG) system using FastAPI and ChromaDB for efficient document retrieval and response generation.</a:t>
            </a:r>
            <a:endParaRPr/>
          </a:p>
          <a:p>
            <a:pPr indent="-228600" lvl="0" marL="45720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D0D0D"/>
              </a:buClr>
              <a:buSzPts val="2700"/>
              <a:buFont typeface="Noto Sans Symbols"/>
              <a:buNone/>
            </a:pPr>
            <a:r>
              <a:t/>
            </a:r>
            <a:endParaRPr sz="2400">
              <a:solidFill>
                <a:srgbClr val="0D0D0D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45720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D0D0D"/>
              </a:buClr>
              <a:buSzPts val="2700"/>
              <a:buFont typeface="Noto Sans Symbols"/>
              <a:buChar char="⮚"/>
            </a:pPr>
            <a:r>
              <a:rPr lang="en-US" sz="2400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Integrated Google Embeddings and Groq LLM models to process user queries and generate context-based responses.</a:t>
            </a:r>
            <a:endParaRPr/>
          </a:p>
          <a:p>
            <a:pPr indent="-228600" lvl="0" marL="45720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D0D0D"/>
              </a:buClr>
              <a:buSzPts val="2700"/>
              <a:buFont typeface="Noto Sans Symbols"/>
              <a:buNone/>
            </a:pPr>
            <a:r>
              <a:t/>
            </a:r>
            <a:endParaRPr sz="2400">
              <a:solidFill>
                <a:srgbClr val="0D0D0D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45720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D0D0D"/>
              </a:buClr>
              <a:buSzPts val="2700"/>
              <a:buFont typeface="Noto Sans Symbols"/>
              <a:buChar char="⮚"/>
            </a:pPr>
            <a:r>
              <a:rPr lang="en-US" sz="2400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Implemented PDF/URL ingestion, vector database storage, and real-time query processing for fast and accurate information retrieval.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dk1"/>
                </a:solidFill>
              </a:rPr>
              <a:t>‹#›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-2" y="203822"/>
            <a:ext cx="12345600" cy="707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</a:t>
            </a:r>
            <a:endParaRPr b="1" i="0" sz="4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Crime Scene ForensiKit: Evidence Packaging : Amazon.in: Office Products" id="115" name="Google Shape;115;p5"/>
          <p:cNvSpPr/>
          <p:nvPr/>
        </p:nvSpPr>
        <p:spPr>
          <a:xfrm>
            <a:off x="9023154" y="-681932"/>
            <a:ext cx="106863" cy="7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6187" y="1257300"/>
            <a:ext cx="4619625" cy="5396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b="1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22" name="Google Shape;122;p6"/>
          <p:cNvSpPr txBox="1"/>
          <p:nvPr/>
        </p:nvSpPr>
        <p:spPr>
          <a:xfrm>
            <a:off x="-1" y="248920"/>
            <a:ext cx="11745687" cy="707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IDENTIFICAITON</a:t>
            </a:r>
            <a:endParaRPr b="1" i="0" sz="4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6"/>
          <p:cNvSpPr txBox="1"/>
          <p:nvPr/>
        </p:nvSpPr>
        <p:spPr>
          <a:xfrm>
            <a:off x="659607" y="1394420"/>
            <a:ext cx="10872786" cy="452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Existing systems provide limited context-based retrieval, resulting in less accurate and less relevant responses.</a:t>
            </a:r>
            <a:endParaRPr/>
          </a:p>
          <a:p>
            <a:pPr indent="-4064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Handling and processing multiple document formats such as PDF and web URLs efficiently remains a major challenge. </a:t>
            </a:r>
            <a:endParaRPr/>
          </a:p>
          <a:p>
            <a:pPr indent="-4064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Poor integration between vector databases, embedding models, and language models affects retrieval and response performance.</a:t>
            </a:r>
            <a:endParaRPr/>
          </a:p>
          <a:p>
            <a:pPr indent="-4064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Real-time query processing and scalable document management become difficult when dealing with large volumes of data.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dk1"/>
                </a:solidFill>
              </a:rPr>
              <a:t>‹#›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9" name="Google Shape;129;p7"/>
          <p:cNvSpPr txBox="1"/>
          <p:nvPr/>
        </p:nvSpPr>
        <p:spPr>
          <a:xfrm>
            <a:off x="0" y="514528"/>
            <a:ext cx="12192000" cy="707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 ARCHITECTURE</a:t>
            </a:r>
            <a:endParaRPr b="1" i="0" sz="4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0" name="Google Shape;13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938" y="1385887"/>
            <a:ext cx="10601325" cy="517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"/>
          <p:cNvSpPr txBox="1"/>
          <p:nvPr>
            <p:ph type="title"/>
          </p:nvPr>
        </p:nvSpPr>
        <p:spPr>
          <a:xfrm>
            <a:off x="0" y="278781"/>
            <a:ext cx="121920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AND HARDWARE REQUIREMENTS </a:t>
            </a:r>
            <a:endParaRPr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8"/>
          <p:cNvSpPr txBox="1"/>
          <p:nvPr>
            <p:ph idx="2" type="body"/>
          </p:nvPr>
        </p:nvSpPr>
        <p:spPr>
          <a:xfrm>
            <a:off x="841544" y="1586700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94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94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94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Processor: Intel i5 or higher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3294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RAM: Minimum 8 GB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3294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Storage: 256 GB SSD or higher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3294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Internet: Stable connection for data transfer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8"/>
          <p:cNvSpPr txBox="1"/>
          <p:nvPr>
            <p:ph idx="4" type="body"/>
          </p:nvPr>
        </p:nvSpPr>
        <p:spPr>
          <a:xfrm>
            <a:off x="6524195" y="1493881"/>
            <a:ext cx="5183100" cy="447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SOFTWARE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Frontend: HTML,CSS3,Vannila JS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Backend: Python(FastAPI)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76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Language: Python,Javascript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143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IDE: Visual Studio Code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88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400">
                <a:solidFill>
                  <a:srgbClr val="0D0D0D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Database: ChromaDB</a:t>
            </a:r>
            <a:endParaRPr sz="2400">
              <a:solidFill>
                <a:srgbClr val="0D0D0D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2400">
                <a:solidFill>
                  <a:srgbClr val="0D0D0D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AI Models:Google Gemini, Groq </a:t>
            </a:r>
            <a:endParaRPr sz="2400">
              <a:solidFill>
                <a:srgbClr val="0D0D0D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0D0D0D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b="1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326571" y="285134"/>
            <a:ext cx="11462658" cy="6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MODULES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b="1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5" name="Google Shape;145;p9"/>
          <p:cNvSpPr txBox="1"/>
          <p:nvPr>
            <p:ph idx="1" type="body"/>
          </p:nvPr>
        </p:nvSpPr>
        <p:spPr>
          <a:xfrm>
            <a:off x="1154113" y="1798973"/>
            <a:ext cx="5424900" cy="34162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546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Input Module</a:t>
            </a:r>
            <a:endParaRPr/>
          </a:p>
          <a:p>
            <a:pPr indent="-342900" lvl="0" marL="546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Processing Module</a:t>
            </a:r>
            <a:endParaRPr/>
          </a:p>
          <a:p>
            <a:pPr indent="-342900" lvl="0" marL="546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Embedding and Storage Module</a:t>
            </a:r>
            <a:endParaRPr/>
          </a:p>
          <a:p>
            <a:pPr indent="-342900" lvl="0" marL="546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Retrieval Module</a:t>
            </a:r>
            <a:endParaRPr/>
          </a:p>
          <a:p>
            <a:pPr indent="-342900" lvl="0" marL="546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Response Generation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Interaction Module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"/>
          <p:cNvSpPr txBox="1"/>
          <p:nvPr>
            <p:ph type="title"/>
          </p:nvPr>
        </p:nvSpPr>
        <p:spPr>
          <a:xfrm>
            <a:off x="0" y="397837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DATA INPUT MODULE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b="1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2" name="Google Shape;152;p10"/>
          <p:cNvSpPr txBox="1"/>
          <p:nvPr>
            <p:ph idx="1" type="body"/>
          </p:nvPr>
        </p:nvSpPr>
        <p:spPr>
          <a:xfrm>
            <a:off x="296200" y="1791777"/>
            <a:ext cx="6347488" cy="3877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Noto Sans Symbols"/>
              <a:buChar char="⮚"/>
            </a:pPr>
            <a:r>
              <a:rPr lang="en-US" sz="2400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Collects PDF documents and web URLs from the user through the application interface.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Noto Sans Symbols"/>
              <a:buNone/>
            </a:pPr>
            <a:r>
              <a:t/>
            </a:r>
            <a:endParaRPr sz="2400">
              <a:solidFill>
                <a:srgbClr val="0D0D0D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Noto Sans Symbols"/>
              <a:buChar char="⮚"/>
            </a:pPr>
            <a:r>
              <a:rPr lang="en-US" sz="2400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Validates uploaded files and URL formats before sending them for processing.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Noto Sans Symbols"/>
              <a:buNone/>
            </a:pPr>
            <a:r>
              <a:t/>
            </a:r>
            <a:endParaRPr sz="2400">
              <a:solidFill>
                <a:srgbClr val="0D0D0D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Noto Sans Symbols"/>
              <a:buChar char="⮚"/>
            </a:pPr>
            <a:r>
              <a:rPr lang="en-US" sz="2400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Transfers the collected data securely to the next processing stage.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Noto Sans Symbols"/>
              <a:buNone/>
            </a:pPr>
            <a:r>
              <a:t/>
            </a:r>
            <a:endParaRPr sz="2400">
              <a:solidFill>
                <a:srgbClr val="0D0D0D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3" name="Google Shape;15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2349" y="1212275"/>
            <a:ext cx="5133451" cy="503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b="1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9" name="Google Shape;159;p11"/>
          <p:cNvSpPr txBox="1"/>
          <p:nvPr>
            <p:ph type="title"/>
          </p:nvPr>
        </p:nvSpPr>
        <p:spPr>
          <a:xfrm>
            <a:off x="0" y="397837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n-US" sz="4000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 PROCESSING MODULE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11"/>
          <p:cNvSpPr txBox="1"/>
          <p:nvPr>
            <p:ph idx="1" type="body"/>
          </p:nvPr>
        </p:nvSpPr>
        <p:spPr>
          <a:xfrm>
            <a:off x="838200" y="1947441"/>
            <a:ext cx="5615400" cy="3877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Noto Sans Symbols"/>
              <a:buChar char="⮚"/>
            </a:pPr>
            <a:r>
              <a:rPr lang="en-US" sz="2400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Extracts text content from uploaded documents and web pages.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Noto Sans Symbols"/>
              <a:buNone/>
            </a:pPr>
            <a:r>
              <a:t/>
            </a:r>
            <a:endParaRPr sz="2400">
              <a:solidFill>
                <a:srgbClr val="0D0D0D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Noto Sans Symbols"/>
              <a:buChar char="⮚"/>
            </a:pPr>
            <a:r>
              <a:rPr lang="en-US" sz="2400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Cleans and preprocesses the extracted text for better accuracy.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Noto Sans Symbols"/>
              <a:buNone/>
            </a:pPr>
            <a:r>
              <a:t/>
            </a:r>
            <a:endParaRPr sz="2400">
              <a:solidFill>
                <a:srgbClr val="0D0D0D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Noto Sans Symbols"/>
              <a:buChar char="⮚"/>
            </a:pPr>
            <a:r>
              <a:rPr lang="en-US" sz="2400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Splits large text into smaller chunks for efficient embedding generation.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Noto Sans Symbols"/>
              <a:buNone/>
            </a:pPr>
            <a:r>
              <a:t/>
            </a:r>
            <a:endParaRPr sz="2400">
              <a:solidFill>
                <a:srgbClr val="0D0D0D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1" name="Google Shape;16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6562" y="1187874"/>
            <a:ext cx="4226875" cy="5670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b="1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7" name="Google Shape;167;p12"/>
          <p:cNvSpPr txBox="1"/>
          <p:nvPr>
            <p:ph type="title"/>
          </p:nvPr>
        </p:nvSpPr>
        <p:spPr>
          <a:xfrm>
            <a:off x="0" y="324465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 EMBEDDING AND STORAGE MODULE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12"/>
          <p:cNvSpPr txBox="1"/>
          <p:nvPr>
            <p:ph idx="1" type="body"/>
          </p:nvPr>
        </p:nvSpPr>
        <p:spPr>
          <a:xfrm>
            <a:off x="157325" y="1795465"/>
            <a:ext cx="6316500" cy="3431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457200" lvl="0" marL="5080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Noto Sans Symbols"/>
              <a:buChar char="⮚"/>
            </a:pPr>
            <a:r>
              <a:rPr lang="en-US" sz="2400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Generates semantic vector embeddings using Google embedding models.</a:t>
            </a:r>
            <a:endParaRPr/>
          </a:p>
          <a:p>
            <a:pPr indent="-279400" lvl="0" marL="5080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Noto Sans Symbols"/>
              <a:buNone/>
            </a:pPr>
            <a:r>
              <a:t/>
            </a:r>
            <a:endParaRPr sz="2400">
              <a:solidFill>
                <a:srgbClr val="0D0D0D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5080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Noto Sans Symbols"/>
              <a:buChar char="⮚"/>
            </a:pPr>
            <a:r>
              <a:rPr lang="en-US" sz="2400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Stores embeddings and processed text chunks in ChromaDB.</a:t>
            </a:r>
            <a:endParaRPr/>
          </a:p>
          <a:p>
            <a:pPr indent="-279400" lvl="0" marL="5080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Noto Sans Symbols"/>
              <a:buNone/>
            </a:pPr>
            <a:r>
              <a:t/>
            </a:r>
            <a:endParaRPr sz="2400">
              <a:solidFill>
                <a:srgbClr val="0D0D0D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5080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Noto Sans Symbols"/>
              <a:buChar char="⮚"/>
            </a:pPr>
            <a:r>
              <a:rPr lang="en-US" sz="2400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Maintains indexed vector data for efficient semantic retrieval.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9" name="Google Shape;169;p12" title="document upload.jpeg"/>
          <p:cNvPicPr preferRelativeResize="0"/>
          <p:nvPr/>
        </p:nvPicPr>
        <p:blipFill rotWithShape="1">
          <a:blip r:embed="rId3">
            <a:alphaModFix/>
          </a:blip>
          <a:srcRect b="12112" l="0" r="31787" t="10344"/>
          <a:stretch/>
        </p:blipFill>
        <p:spPr>
          <a:xfrm>
            <a:off x="6554625" y="1552775"/>
            <a:ext cx="5185551" cy="4186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b="1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75" name="Google Shape;175;p13"/>
          <p:cNvSpPr txBox="1"/>
          <p:nvPr>
            <p:ph type="title"/>
          </p:nvPr>
        </p:nvSpPr>
        <p:spPr>
          <a:xfrm>
            <a:off x="0" y="357228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RETRIVAL 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13"/>
          <p:cNvSpPr txBox="1"/>
          <p:nvPr>
            <p:ph idx="1" type="body"/>
          </p:nvPr>
        </p:nvSpPr>
        <p:spPr>
          <a:xfrm>
            <a:off x="757526" y="1928514"/>
            <a:ext cx="5916600" cy="3493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406400" lvl="0" marL="45720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Noto Sans Symbols"/>
              <a:buChar char="⮚"/>
            </a:pPr>
            <a:r>
              <a:rPr lang="en-US" sz="2400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Performs hybrid search using vector methods</a:t>
            </a:r>
            <a:endParaRPr sz="2400">
              <a:solidFill>
                <a:srgbClr val="0D0D0D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Noto Sans Symbols"/>
              <a:buChar char="⮚"/>
            </a:pPr>
            <a:r>
              <a:rPr lang="en-US" sz="2400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Retrieves relevant document information</a:t>
            </a:r>
            <a:endParaRPr sz="2400">
              <a:solidFill>
                <a:srgbClr val="0D0D0D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Noto Sans Symbols"/>
              <a:buChar char="⮚"/>
            </a:pPr>
            <a:r>
              <a:rPr lang="en-US" sz="2400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Ranks results based on similarity</a:t>
            </a:r>
            <a:endParaRPr sz="2400">
              <a:solidFill>
                <a:srgbClr val="0D0D0D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Noto Sans Symbols"/>
              <a:buChar char="⮚"/>
            </a:pPr>
            <a:r>
              <a:rPr lang="en-US" sz="2400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Ensures fast and efficient data access</a:t>
            </a:r>
            <a:endParaRPr sz="2400">
              <a:solidFill>
                <a:srgbClr val="0D0D0D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Noto Sans Symbols"/>
              <a:buChar char="⮚"/>
            </a:pPr>
            <a:r>
              <a:rPr lang="en-US" sz="2400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Improves context-based answer accuracy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7" name="Google Shape;177;p13" title="url outputs.jpeg"/>
          <p:cNvPicPr preferRelativeResize="0"/>
          <p:nvPr/>
        </p:nvPicPr>
        <p:blipFill rotWithShape="1">
          <a:blip r:embed="rId3">
            <a:alphaModFix/>
          </a:blip>
          <a:srcRect b="26339" l="25199" r="5630" t="18858"/>
          <a:stretch/>
        </p:blipFill>
        <p:spPr>
          <a:xfrm>
            <a:off x="6883900" y="1896038"/>
            <a:ext cx="5011898" cy="306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"/>
          <p:cNvSpPr txBox="1"/>
          <p:nvPr>
            <p:ph idx="12" type="sldNum"/>
          </p:nvPr>
        </p:nvSpPr>
        <p:spPr>
          <a:xfrm>
            <a:off x="8610600" y="630282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b="1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83" name="Google Shape;183;p14"/>
          <p:cNvSpPr txBox="1"/>
          <p:nvPr>
            <p:ph type="title"/>
          </p:nvPr>
        </p:nvSpPr>
        <p:spPr>
          <a:xfrm>
            <a:off x="0" y="53559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RESPONSE GENERATION AND INTERACTION MODULE</a:t>
            </a:r>
            <a:endParaRPr/>
          </a:p>
        </p:txBody>
      </p:sp>
      <p:sp>
        <p:nvSpPr>
          <p:cNvPr id="184" name="Google Shape;184;p14"/>
          <p:cNvSpPr txBox="1"/>
          <p:nvPr>
            <p:ph idx="1" type="body"/>
          </p:nvPr>
        </p:nvSpPr>
        <p:spPr>
          <a:xfrm>
            <a:off x="185738" y="1620742"/>
            <a:ext cx="6449487" cy="3431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4572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Noto Sans Symbols"/>
              <a:buChar char="⮚"/>
            </a:pPr>
            <a:r>
              <a:rPr lang="en-US" sz="2400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Generates context-aware responses using Groq language models.</a:t>
            </a:r>
            <a:endParaRPr/>
          </a:p>
          <a:p>
            <a:pPr indent="-228600" lvl="0" marL="4572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Noto Sans Symbols"/>
              <a:buNone/>
            </a:pPr>
            <a:r>
              <a:t/>
            </a:r>
            <a:endParaRPr sz="2400">
              <a:solidFill>
                <a:srgbClr val="0D0D0D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Noto Sans Symbols"/>
              <a:buChar char="⮚"/>
            </a:pPr>
            <a:r>
              <a:rPr lang="en-US" sz="2400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Displays responses through the real-time user interface.</a:t>
            </a:r>
            <a:endParaRPr/>
          </a:p>
          <a:p>
            <a:pPr indent="-228600" lvl="0" marL="4572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Noto Sans Symbols"/>
              <a:buNone/>
            </a:pPr>
            <a:r>
              <a:t/>
            </a:r>
            <a:endParaRPr sz="2400">
              <a:solidFill>
                <a:srgbClr val="0D0D0D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Noto Sans Symbols"/>
              <a:buChar char="⮚"/>
            </a:pPr>
            <a:r>
              <a:rPr lang="en-US" sz="2400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Supports interactive query handling and efficient user communication.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5" name="Google Shape;185;p14" title="below it provide reference links.jpeg"/>
          <p:cNvPicPr preferRelativeResize="0"/>
          <p:nvPr/>
        </p:nvPicPr>
        <p:blipFill rotWithShape="1">
          <a:blip r:embed="rId3">
            <a:alphaModFix/>
          </a:blip>
          <a:srcRect b="12048" l="21879" r="24977" t="10672"/>
          <a:stretch/>
        </p:blipFill>
        <p:spPr>
          <a:xfrm>
            <a:off x="6909650" y="1603975"/>
            <a:ext cx="4874650" cy="422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"/>
          <p:cNvSpPr txBox="1"/>
          <p:nvPr>
            <p:ph type="title"/>
          </p:nvPr>
        </p:nvSpPr>
        <p:spPr>
          <a:xfrm>
            <a:off x="-130628" y="389982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50800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Noto Sans Symbols"/>
              <a:buChar char="⮚"/>
            </a:pPr>
            <a:r>
              <a:rPr lang="en-US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This project successfully implements a scalable RAG system for accurate, context-aware question answering using multiple AI models and efficient document retrieval techniques.</a:t>
            </a:r>
            <a:endParaRPr>
              <a:solidFill>
                <a:srgbClr val="0D0D0D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5080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Noto Sans Symbols"/>
              <a:buChar char="⮚"/>
            </a:pPr>
            <a:r>
              <a:rPr lang="en-US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It provides an interactive full-stack solution integrating frontend, backend, and AI to deliver real-time, intelligent responses from various data sources.</a:t>
            </a:r>
            <a:endParaRPr>
              <a:solidFill>
                <a:srgbClr val="0D0D0D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b="1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"/>
          <p:cNvSpPr txBox="1"/>
          <p:nvPr>
            <p:ph idx="12" type="sldNum"/>
          </p:nvPr>
        </p:nvSpPr>
        <p:spPr>
          <a:xfrm>
            <a:off x="8648616" y="638092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b="1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98" name="Google Shape;198;p16"/>
          <p:cNvSpPr txBox="1"/>
          <p:nvPr/>
        </p:nvSpPr>
        <p:spPr>
          <a:xfrm>
            <a:off x="125100" y="83372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ENHANCEMENTS </a:t>
            </a:r>
            <a:endParaRPr b="1" i="0" sz="4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16"/>
          <p:cNvSpPr txBox="1"/>
          <p:nvPr/>
        </p:nvSpPr>
        <p:spPr>
          <a:xfrm>
            <a:off x="725400" y="1839800"/>
            <a:ext cx="10866300" cy="38625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marR="0" rtl="0" algn="just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Add user authentication and personalized document management system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Integrate more advanced and fine-tuned AI models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Improve UI with dashboards and analytics visualization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Enable multi-user collaboration and shared knowledge base</a:t>
            </a:r>
            <a:endParaRPr b="0" i="0" sz="2400" u="none" cap="none" strike="noStrike">
              <a:solidFill>
                <a:srgbClr val="0D0D0D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Noto Sans Symbols"/>
              <a:buChar char="⮚"/>
            </a:pPr>
            <a:r>
              <a:rPr b="0" i="0" lang="en-US" sz="24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Enhance performance with distributed and scalable architecture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2026-03-29T15:01:22Z</dcterms:created>
  <dc:creator>Saravanan 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2032D136464045D1814C2CFBE14885D9_12</vt:lpwstr>
  </property>
</Properties>
</file>